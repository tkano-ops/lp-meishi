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548640"/>
            <a:ext cx="2926080" cy="2926080"/>
          </a:xfrm>
          <a:prstGeom prst="ellipse">
            <a:avLst/>
          </a:prstGeom>
          <a:solidFill>
            <a:srgbClr val="E945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49740" y="-297180"/>
            <a:ext cx="2606040" cy="2606040"/>
          </a:xfrm>
          <a:prstGeom prst="ellipse">
            <a:avLst/>
          </a:prstGeom>
          <a:solidFill>
            <a:srgbClr val="F0A5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-45720"/>
            <a:ext cx="2286000" cy="228600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44100" y="205740"/>
            <a:ext cx="1965960" cy="1965960"/>
          </a:xfrm>
          <a:prstGeom prst="ellipse">
            <a:avLst/>
          </a:prstGeom>
          <a:solidFill>
            <a:srgbClr val="3A86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457200"/>
            <a:ext cx="1645920" cy="1645920"/>
          </a:xfrm>
          <a:prstGeom prst="ellipse">
            <a:avLst/>
          </a:prstGeom>
          <a:solidFill>
            <a:srgbClr val="8338EC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pPr indent="0" marL="0">
              <a:buNone/>
            </a:pPr>
            <a:r>
              <a:rPr lang="en-US" sz="12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 goodcast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ご提案資料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9601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その日出会った10人のうち、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本当につながれたのは、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何人ですか。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完全オーダーメイド LP型デジタル名刺「ヒトイロ」— ご提案資料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本質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名刺交換の瞬間ではなく、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その「翌日」が、商談を決めている。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交流会で名刺を交換した瞬間には、まだ何も決まっていません。数日後、フォローの連絡をした時に「ああ、あの人か」と思い出してもらえるか。それとも、そこで終わるか。ほとんどの人は、その一番大事な瞬間に、名前と肩書きしか書かれていない記憶と、テキストだけのメッセージしか持っていません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89149" y="5148072"/>
            <a:ext cx="7213397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4557" y="4983480"/>
            <a:ext cx="329184" cy="329184"/>
          </a:xfrm>
          <a:prstGeom prst="ellipse">
            <a:avLst/>
          </a:prstGeom>
          <a:solidFill>
            <a:srgbClr val="FAFAF7"/>
          </a:solidFill>
          <a:ln w="22225">
            <a:solidFill>
              <a:srgbClr val="A1A1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422392"/>
            <a:ext cx="3606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出会う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788152"/>
            <a:ext cx="3606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名刺交換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31256" y="4983480"/>
            <a:ext cx="329184" cy="329184"/>
          </a:xfrm>
          <a:prstGeom prst="ellipse">
            <a:avLst/>
          </a:prstGeom>
          <a:solidFill>
            <a:srgbClr val="E94560"/>
          </a:solidFill>
          <a:ln w="22225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5422392"/>
            <a:ext cx="3606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フォローの連絡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2498" y="5788152"/>
            <a:ext cx="3606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＝勝負の瞬間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537954" y="4983480"/>
            <a:ext cx="329184" cy="329184"/>
          </a:xfrm>
          <a:prstGeom prst="ellipse">
            <a:avLst/>
          </a:prstGeom>
          <a:solidFill>
            <a:srgbClr val="FAFAF7"/>
          </a:solidFill>
          <a:ln w="22225">
            <a:solidFill>
              <a:srgbClr val="A1A1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9197" y="5422392"/>
            <a:ext cx="3606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商談・成約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99197" y="5788152"/>
            <a:ext cx="3606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課題 / PAIN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その名刺、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あなたを語れていますか。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後で見返したら、誰だっけ。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33323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もらった名刺の束。名前と顔と仕事が、一週間で曖昧になる。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29658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9658" y="3337560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紙一枚に、情報が収まらない。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29658" y="4251960"/>
            <a:ext cx="33323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肩書き・実績・SNS・想い。本当に伝えたいことは、紙には載らない。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73517" y="292608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73517" y="3337560"/>
            <a:ext cx="33323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印象に、残らない。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73517" y="4251960"/>
            <a:ext cx="33323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みんな同じレイアウト。あなたの「らしさ」は、どこにも出ていない。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体験 / EXPERIENCE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ヒトイロは、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「その後」を制する一枚。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NFCカードをかざすだけで、あなた専用のページが開く。フォローの連絡が、最高の自己紹介になる。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かざす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33323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スマホにNFCカードをタッチ。アプリもQR読み取りの手間もいらない。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429000"/>
            <a:ext cx="457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063898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29658" y="3566160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2965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ひらく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29658" y="4480560"/>
            <a:ext cx="33323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一瞬で、あなた専用のLPが立ち上がる。物語のように、人柄が伝わる。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29658" y="3429000"/>
            <a:ext cx="4572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7807757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73517" y="3566160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7351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つながる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73517" y="4480560"/>
            <a:ext cx="33323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SNS・予約・連絡先までワンタップ。出会いが、その場でご縁になる。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3517" y="3429000"/>
            <a:ext cx="4572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比較 / VS.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何が違うのか、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一目でわかるように。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43200"/>
          <a:ext cx="10820095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  <a:gridCol w="277337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71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紙の名刺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71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リンク集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ヒトイロ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デザインの自由度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定型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テンプレート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完全オーダーメイド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伝えられる情報量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× 限られる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○ リンク集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物語として展開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第一印象・体験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ふつう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一覧表示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かざす驚き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公開後の更新・保守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× 刷り直し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○ 自分で編集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月額でプロが対応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あなたらしさ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× 横並び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717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共通UI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あなたの色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E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WHY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私たちについて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机上の空論ではなく、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当事者が作っています。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45720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880360"/>
            <a:ext cx="513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玉木 雄介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ヒトイロ代表取締役 / 人材系スタートアップ執行役員CHRO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5135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トヨタ自動車で開発に携わった後、人材業界へ。交流会で名刺交換した相手を、後から思い出せないまま関係が終わっていく——それを何十回と経験し、本気でこの課題を解決したいと思い、ヒトイロを立ち上げました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70168" y="2743200"/>
            <a:ext cx="457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370168" y="2880360"/>
            <a:ext cx="513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加納 斗良士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70168" y="338328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共同創業 / 人材系スタートアップ代表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70168" y="3886200"/>
            <a:ext cx="5135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17歳で学生起業、20歳で会社設立。現在4期目、年商10億規模の会社を経営しながら、自身も名刺交換・自己紹介の課題に向き合ってきた一人です。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実績 / 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一人ひとり、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違う色になる。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10820095" cy="23774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5056632"/>
            <a:ext cx="2164019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Shape 6"/>
          <p:cNvSpPr/>
          <p:nvPr/>
        </p:nvSpPr>
        <p:spPr>
          <a:xfrm>
            <a:off x="2849819" y="5056632"/>
            <a:ext cx="2164019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Shape 7"/>
          <p:cNvSpPr/>
          <p:nvPr/>
        </p:nvSpPr>
        <p:spPr>
          <a:xfrm>
            <a:off x="5013838" y="5056632"/>
            <a:ext cx="2164019" cy="64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7177857" y="5056632"/>
            <a:ext cx="2164019" cy="64008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41876" y="5056632"/>
            <a:ext cx="2164019" cy="64008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C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01 — FOUNDER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加納 斗良士 様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4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海外人材×HRテック起業家。年商10億の事業ストーリーを、一枚のLP名刺に。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5486400"/>
            <a:ext cx="320040" cy="3200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59612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完全オーダーメイド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94360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全8セクションを、経歴・実績に合わせて設計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29658" y="5486400"/>
            <a:ext cx="320040" cy="320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429658" y="559612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NFC / QR両対応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29658" y="594360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かざす・読み取る、どちらの導線も用意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73517" y="5486400"/>
            <a:ext cx="320040" cy="320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73517" y="559612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公開後も育てる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3517" y="5943600"/>
            <a:ext cx="3332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月額保守で、内容を継続的にアップデート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59893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制作事例は順次公開予定。あなたが、次の一枚に。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PRICING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料金 / PLANS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制作費＋月額で、育てていく。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— 制作費（売り切り）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651760"/>
            <a:ext cx="3378098" cy="1828800"/>
          </a:xfrm>
          <a:prstGeom prst="roundRect">
            <a:avLst>
              <a:gd name="adj" fmla="val 3000"/>
            </a:avLst>
          </a:prstGeom>
          <a:solidFill>
            <a:srgbClr val="FAFAF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2920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スタンダード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92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まずは一枚、自分の色を。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920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¥100,000〜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920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オーダーメイドLP（全8セクション）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NFCカード 1枚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プロによるコピーライティング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スマホ最適化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06798" y="2651760"/>
            <a:ext cx="3378098" cy="1828800"/>
          </a:xfrm>
          <a:prstGeom prst="roundRect">
            <a:avLst>
              <a:gd name="adj" fmla="val 3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5398" y="2834640"/>
            <a:ext cx="2920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7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プレミアム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5398" y="3154680"/>
            <a:ext cx="292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9C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世界観まで、作り込む。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5398" y="3429000"/>
            <a:ext cx="2920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FAF7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¥200,000〜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35398" y="3840480"/>
            <a:ext cx="2920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9D9D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スタンダードの全内容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9D9D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完全オリジナルデザイン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9D9D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NFCカード 3枚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9D9D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写真ディレクション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127797" y="2651760"/>
            <a:ext cx="3378098" cy="1828800"/>
          </a:xfrm>
          <a:prstGeom prst="roundRect">
            <a:avLst>
              <a:gd name="adj" fmla="val 3000"/>
            </a:avLst>
          </a:prstGeom>
          <a:solidFill>
            <a:srgbClr val="FAFAF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6397" y="2834640"/>
            <a:ext cx="2920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エグゼクティブ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56397" y="3154680"/>
            <a:ext cx="292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ブランドの、顔になる一枚。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56397" y="3429000"/>
            <a:ext cx="2920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¥350,000〜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56397" y="3840480"/>
            <a:ext cx="2920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プレミアムの全内容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NFCカード 5枚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プロカメラマン手配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— 専属ディレクター伴走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— 月額保守（必須）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29200"/>
            <a:ext cx="3378098" cy="1234440"/>
          </a:xfrm>
          <a:prstGeom prst="roundRect">
            <a:avLst>
              <a:gd name="adj" fmla="val 4444"/>
            </a:avLst>
          </a:prstGeom>
          <a:solidFill>
            <a:srgbClr val="FAFAF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166360"/>
            <a:ext cx="2975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ベーシック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5440680"/>
            <a:ext cx="29757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¥980 / 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" y="5779008"/>
            <a:ext cx="29757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ホスティング・SSL維持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軽微な修正（年2回）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06798" y="5029200"/>
            <a:ext cx="3378098" cy="1234440"/>
          </a:xfrm>
          <a:prstGeom prst="roundRect">
            <a:avLst>
              <a:gd name="adj" fmla="val 4444"/>
            </a:avLst>
          </a:prstGeom>
          <a:solidFill>
            <a:srgbClr val="FAFAF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7966" y="5166360"/>
            <a:ext cx="2975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スタンダード</a:t>
            </a:r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おすすめ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07966" y="5440680"/>
            <a:ext cx="29757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¥2,980 / 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07966" y="5779008"/>
            <a:ext cx="29757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テキスト・写真修正（月1回）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アクセスレポート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SNS・実績の随時追加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27797" y="5029200"/>
            <a:ext cx="3378098" cy="1234440"/>
          </a:xfrm>
          <a:prstGeom prst="roundRect">
            <a:avLst>
              <a:gd name="adj" fmla="val 4444"/>
            </a:avLst>
          </a:prstGeom>
          <a:solidFill>
            <a:srgbClr val="FAFAF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8965" y="5166360"/>
            <a:ext cx="2975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アクティブ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8965" y="5440680"/>
            <a:ext cx="29757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¥5,980 / 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8965" y="5779008"/>
            <a:ext cx="29757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構成変更（月1回）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詳細解析＋改善提案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優先サポート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流れ / 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10820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ご依頼から、</a:t>
            </a:r>
            <a:endParaRPr lang="en-US" sz="3000" dirty="0"/>
          </a:p>
          <a:p>
            <a:pPr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納品まで。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FAFAF7"/>
          </a:solidFill>
          <a:ln w="22225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19811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709160"/>
            <a:ext cx="1981139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経歴・実績・想い・デザインの好みを丁寧にお伺いします。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3685032"/>
            <a:ext cx="1706819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895539" y="3429000"/>
            <a:ext cx="502920" cy="502920"/>
          </a:xfrm>
          <a:prstGeom prst="ellipse">
            <a:avLst/>
          </a:prstGeom>
          <a:solidFill>
            <a:srgbClr val="FAFAF7"/>
          </a:solidFill>
          <a:ln w="22225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5539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5539" y="4114800"/>
            <a:ext cx="19811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仮組みの確認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95539" y="4709160"/>
            <a:ext cx="1981139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構成・コピー・配色を仮組みしてご確認いただきます。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8459" y="3685032"/>
            <a:ext cx="1706819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05278" y="3429000"/>
            <a:ext cx="502920" cy="502920"/>
          </a:xfrm>
          <a:prstGeom prst="ellipse">
            <a:avLst/>
          </a:prstGeom>
          <a:solidFill>
            <a:srgbClr val="FAFAF7"/>
          </a:solidFill>
          <a:ln w="22225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527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05278" y="4114800"/>
            <a:ext cx="19811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本仕上げ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05278" y="4709160"/>
            <a:ext cx="1981139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承認後、実写真への差し替えと演出まで作り込みます。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08198" y="3685032"/>
            <a:ext cx="1706819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315017" y="3429000"/>
            <a:ext cx="502920" cy="502920"/>
          </a:xfrm>
          <a:prstGeom prst="ellipse">
            <a:avLst/>
          </a:prstGeom>
          <a:solidFill>
            <a:srgbClr val="FAFAF7"/>
          </a:solidFill>
          <a:ln w="22225">
            <a:solidFill>
              <a:srgbClr val="3A8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017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017" y="4114800"/>
            <a:ext cx="19811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納品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017" y="4709160"/>
            <a:ext cx="1981139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NFCカード・QRコードを発行し、LPを公開します。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7937" y="3685032"/>
            <a:ext cx="1706819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524756" y="3429000"/>
            <a:ext cx="502920" cy="502920"/>
          </a:xfrm>
          <a:prstGeom prst="ellipse">
            <a:avLst/>
          </a:prstGeom>
          <a:solidFill>
            <a:srgbClr val="FAFAF7"/>
          </a:solidFill>
          <a:ln w="22225">
            <a:solidFill>
              <a:srgbClr val="833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4756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24756" y="4114800"/>
            <a:ext cx="19811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保守・運用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24756" y="4709160"/>
            <a:ext cx="1981139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月額保守プランで、公開後も内容を育てていきます。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CONTACT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9495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お問い合わせ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6350">
            <a:solidFill>
              <a:srgbClr val="0A0A0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このメッセージ自体が、証明です。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読んでいただいているこの資料も、「その後のフォロー」の一つです。もしあの日の名刺交換が、ただの名刺交換で終わっていたら、この提案は届いていません。ヒトイロは、これと同じことを、あなたが交わすすべての名刺交換に起こしま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まずは無料相談から。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お問い合わせ先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5029200"/>
            <a:ext cx="5943600" cy="914400"/>
          </a:xfrm>
          <a:prstGeom prst="rect">
            <a:avLst/>
          </a:prstGeom>
          <a:ln w="12700">
            <a:solidFill>
              <a:srgbClr val="D4D4D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68680" y="50292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（ご連絡先をご記入ください）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834640"/>
            <a:ext cx="1920240" cy="1920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サービス紹介はこちら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HITOIRO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2026-07-05T11:04:51Z</dcterms:created>
  <dcterms:modified xsi:type="dcterms:W3CDTF">2026-07-05T11:04:51Z</dcterms:modified>
</cp:coreProperties>
</file>